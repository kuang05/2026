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176000" cy="133908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651000" y="431800"/>
            <a:ext cx="7874000" cy="1336040"/>
          </a:xfrm>
          <a:prstGeom prst="roundRect">
            <a:avLst>
              <a:gd name="adj" fmla="val 10000"/>
            </a:avLst>
          </a:prstGeom>
          <a:solidFill>
            <a:srgbClr val="FCEEE7"/>
          </a:solidFill>
          <a:ln w="222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/enter：生成半径 998.925 m 的</a:t>
            </a:r>
          </a:p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七点无圆心极小极大环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51000" y="2225040"/>
            <a:ext cx="7874000" cy="1336040"/>
          </a:xfrm>
          <a:prstGeom prst="roundRect">
            <a:avLst>
              <a:gd name="adj" fmla="val 10000"/>
            </a:avLst>
          </a:prstGeom>
          <a:solidFill>
            <a:srgbClr val="E8F1FA"/>
          </a:solidFill>
          <a:ln w="222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按频道批处理访问扫描点</a:t>
            </a:r>
          </a:p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完成未知频道发现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51000" y="4018279"/>
            <a:ext cx="7874000" cy="1336040"/>
          </a:xfrm>
          <a:prstGeom prst="roundRect">
            <a:avLst>
              <a:gd name="adj" fmla="val 10000"/>
            </a:avLst>
          </a:prstGeom>
          <a:solidFill>
            <a:srgbClr val="E8F1FA"/>
          </a:solidFill>
          <a:ln w="222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对正观测求角楔交</a:t>
            </a:r>
          </a:p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与 1500 m 上界、目标圆求交</a:t>
            </a:r>
          </a:p>
        </p:txBody>
      </p:sp>
      <p:sp>
        <p:nvSpPr>
          <p:cNvPr id="5" name="Diamond 4"/>
          <p:cNvSpPr/>
          <p:nvPr/>
        </p:nvSpPr>
        <p:spPr>
          <a:xfrm>
            <a:off x="1651000" y="5811520"/>
            <a:ext cx="7874000" cy="1524000"/>
          </a:xfrm>
          <a:prstGeom prst="diamond">
            <a:avLst/>
          </a:prstGeom>
          <a:solidFill>
            <a:srgbClr val="FFF3D6"/>
          </a:solidFill>
          <a:ln w="2222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保守服务域半径 ≤ 19.5 m？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51000" y="10332719"/>
            <a:ext cx="7874000" cy="1336040"/>
          </a:xfrm>
          <a:prstGeom prst="roundRect">
            <a:avLst>
              <a:gd name="adj" fmla="val 10000"/>
            </a:avLst>
          </a:prstGeom>
          <a:solidFill>
            <a:srgbClr val="E8F1FA"/>
          </a:solidFill>
          <a:ln w="222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未收敛时：19.11 m 三角格覆盖兜底</a:t>
            </a:r>
          </a:p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（必有一个格点距源小于 20 m）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51000" y="12125960"/>
            <a:ext cx="7874000" cy="833119"/>
          </a:xfrm>
          <a:prstGeom prst="roundRect">
            <a:avLst>
              <a:gd name="adj" fmla="val 10000"/>
            </a:avLst>
          </a:prstGeom>
          <a:solidFill>
            <a:srgbClr val="FCEEE7"/>
          </a:solidFill>
          <a:ln w="222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滚动 2-opt 调度 → 全部清除 → /exit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88000" y="1767839"/>
            <a:ext cx="0" cy="457201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588000" y="3561079"/>
            <a:ext cx="0" cy="45720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588000" y="5354320"/>
            <a:ext cx="0" cy="45720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588000" y="11668760"/>
            <a:ext cx="0" cy="45720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16000" y="7792719"/>
            <a:ext cx="3937000" cy="1268984"/>
          </a:xfrm>
          <a:prstGeom prst="roundRect">
            <a:avLst>
              <a:gd name="adj" fmla="val 10000"/>
            </a:avLst>
          </a:prstGeom>
          <a:solidFill>
            <a:srgbClr val="E2EFDA"/>
          </a:solidFill>
          <a:ln w="22225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5000"/>
              </a:lnSpc>
            </a:pPr>
            <a:r>
              <a:rPr sz="28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选保证接收补测点</a:t>
            </a:r>
          </a:p>
          <a:p>
            <a:pPr algn="ctr">
              <a:lnSpc>
                <a:spcPct val="105000"/>
              </a:lnSpc>
            </a:pPr>
            <a:r>
              <a:rPr sz="28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更新可行域（回环）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746500" y="7335519"/>
            <a:ext cx="508000" cy="45720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23000" y="9062719"/>
            <a:ext cx="3937000" cy="1268984"/>
          </a:xfrm>
          <a:prstGeom prst="roundRect">
            <a:avLst>
              <a:gd name="adj" fmla="val 10000"/>
            </a:avLst>
          </a:prstGeom>
          <a:solidFill>
            <a:srgbClr val="E2EFDA"/>
          </a:solidFill>
          <a:ln w="22225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5000"/>
              </a:lnSpc>
            </a:pPr>
            <a:r>
              <a:rPr sz="28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执行安全清除</a:t>
            </a:r>
          </a:p>
          <a:p>
            <a:pPr algn="ctr">
              <a:lnSpc>
                <a:spcPct val="105000"/>
              </a:lnSpc>
            </a:pPr>
            <a:r>
              <a:rPr sz="28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失败则保留可行域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21500" y="7335519"/>
            <a:ext cx="508000" cy="1727200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943100" y="7259319"/>
            <a:ext cx="2032000" cy="5080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800" b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9300" y="7259319"/>
            <a:ext cx="2032000" cy="5080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800" b="0">
                <a:solidFill>
                  <a:srgbClr val="538135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84500" y="9061703"/>
            <a:ext cx="0" cy="1473200"/>
          </a:xfrm>
          <a:prstGeom prst="line">
            <a:avLst/>
          </a:prstGeom>
          <a:ln w="2540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191500" y="10331703"/>
            <a:ext cx="0" cy="203200"/>
          </a:xfrm>
          <a:prstGeom prst="line">
            <a:avLst/>
          </a:prstGeom>
          <a:ln w="2540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984500" y="10534903"/>
            <a:ext cx="5207000" cy="0"/>
          </a:xfrm>
          <a:prstGeom prst="line">
            <a:avLst/>
          </a:prstGeom>
          <a:ln w="2540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588000" y="10332719"/>
            <a:ext cx="0" cy="202184"/>
          </a:xfrm>
          <a:prstGeom prst="line">
            <a:avLst/>
          </a:prstGeom>
          <a:ln w="25400">
            <a:solidFill>
              <a:srgbClr val="4040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